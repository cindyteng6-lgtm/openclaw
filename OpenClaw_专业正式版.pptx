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PingFang SC"/>
              </a:defRPr>
            </a:pPr>
            <a:r>
              <a:t>OpenClaw 智能助手平台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  <a:latin typeface="PingFang SC"/>
              </a:defRPr>
            </a:pPr>
            <a:r>
              <a:t>下一代 AI 自动化与任务编排系统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什么是 OpenClaw？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828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5669280"/>
          </a:xfrm>
          <a:prstGeom prst="rect">
            <a:avLst/>
          </a:prstGeom>
          <a:solidFill>
            <a:srgbClr val="F8F9FA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A2A2A"/>
                </a:solidFill>
                <a:latin typeface="PingFang SC"/>
              </a:defRPr>
            </a:pPr>
            <a:r>
              <a:t>OpenClaw 是什么？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开源 AI 助手运行平台，让 AI 真正融入你的工作流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支持多模型接入（Qwen、GPT、Claude 等）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内置丰富工具集：文件操作、浏览器控制、定时任务、消息通知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可扩展的技能系统，轻松定制专属能力</a:t>
            </a:r>
          </a:p>
          <a:p>
            <a:br/>
            <a:pPr>
              <a:spcAft>
                <a:spcPts val="1600"/>
              </a:spcAft>
              <a:defRPr sz="2800" b="1">
                <a:solidFill>
                  <a:srgbClr val="2A2A2A"/>
                </a:solidFill>
                <a:latin typeface="PingFang SC"/>
              </a:defRPr>
            </a:pPr>
            <a:r>
              <a:t>核心价值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🔧 自动化日常任务，释放人力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🧠 持久化记忆，真正理解你的需求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🔐 本地部署，数据完全可控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核心功能特性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828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5669280"/>
          </a:xfrm>
          <a:prstGeom prst="rect">
            <a:avLst/>
          </a:prstGeom>
          <a:solidFill>
            <a:srgbClr val="F8F9FA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A2A2A"/>
                </a:solidFill>
                <a:latin typeface="PingFang SC"/>
              </a:defRPr>
            </a:pPr>
            <a:r>
              <a:t>📁 文件与 workspace 管理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读写编辑文件，自动整理归类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全局 workspace 概念，所有会话共享上下文</a:t>
            </a:r>
          </a:p>
          <a:p>
            <a:br/>
            <a:pPr>
              <a:spcAft>
                <a:spcPts val="800"/>
              </a:spcAft>
              <a:defRPr sz="2400" b="1">
                <a:solidFill>
                  <a:srgbClr val="2A2A2A"/>
                </a:solidFill>
                <a:latin typeface="PingFang SC"/>
              </a:defRPr>
            </a:pPr>
            <a:r>
              <a:t>🌐 浏览器与网络操作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自动化网页交互（点击、输入、截图）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网页内容提取与搜索</a:t>
            </a:r>
          </a:p>
          <a:p>
            <a:br/>
            <a:pPr>
              <a:spcAft>
                <a:spcPts val="800"/>
              </a:spcAft>
              <a:defRPr sz="2400" b="1">
                <a:solidFill>
                  <a:srgbClr val="2A2A2A"/>
                </a:solidFill>
                <a:latin typeface="PingFang SC"/>
              </a:defRPr>
            </a:pPr>
            <a:r>
              <a:t>⏰ 定时任务系统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Cron 表达式支持，精确调度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心跳检查，主动提醒重要事项</a:t>
            </a:r>
          </a:p>
          <a:p>
            <a:br/>
            <a:pPr>
              <a:spcAft>
                <a:spcPts val="800"/>
              </a:spcAft>
              <a:defRPr sz="2400" b="1">
                <a:solidFill>
                  <a:srgbClr val="2A2A2A"/>
                </a:solidFill>
                <a:latin typeface="PingFang SC"/>
              </a:defRPr>
            </a:pPr>
            <a:r>
              <a:t>💬 多平台消息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Telegram、Discord、微信等集成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群组聊天智能参与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0"/>
            <a:ext cx="182880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PingFang SC"/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C107"/>
                </a:solidFill>
                <a:latin typeface="PingFang SC"/>
              </a:defRPr>
            </a:pPr>
            <a:r>
              <a:t>模块化设计 · 灵活扩展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系统架构概览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828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5669280"/>
          </a:xfrm>
          <a:prstGeom prst="rect">
            <a:avLst/>
          </a:prstGeom>
          <a:solidFill>
            <a:srgbClr val="F8F9FA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A2A2A"/>
                </a:solidFill>
                <a:latin typeface="PingFang SC"/>
              </a:defRPr>
            </a:pPr>
            <a:r>
              <a:t>🏗️ 三层架构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Gateway 层：核心调度与服务管理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Agent 层：AI 模型推理与决策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Surface 层：用户界面与交互（Web/Telegram/Discord）</a:t>
            </a:r>
          </a:p>
          <a:p>
            <a:br/>
            <a:pPr>
              <a:spcAft>
                <a:spcPts val="1600"/>
              </a:spcAft>
              <a:defRPr sz="2800" b="1">
                <a:solidFill>
                  <a:srgbClr val="2A2A2A"/>
                </a:solidFill>
                <a:latin typeface="PingFang SC"/>
              </a:defRPr>
            </a:pPr>
            <a:r>
              <a:t>🔌 插件系统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Skills：预定义能力包（GitHub、天气、健康检查等）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Tools：底层工具接口（文件、浏览器、节点设备）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Memory：短期日志 + 长期记忆的持久化系统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记忆系统 - AI 的连续性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828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5669280"/>
          </a:xfrm>
          <a:prstGeom prst="rect">
            <a:avLst/>
          </a:prstGeom>
          <a:solidFill>
            <a:srgbClr val="F8F9FA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A2A2A"/>
                </a:solidFill>
                <a:latin typeface="PingFang SC"/>
              </a:defRPr>
            </a:pPr>
            <a:r>
              <a:t>📝 日常记忆 (memory/YYYY-MM-DD.md)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每日自动创建，记录原始对话与事件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类似人类的日记，保留完整上下文</a:t>
            </a:r>
          </a:p>
          <a:p>
            <a:br/>
            <a:pPr>
              <a:spcAft>
                <a:spcPts val="800"/>
              </a:spcAft>
              <a:defRPr sz="2200" b="1">
                <a:solidFill>
                  <a:srgbClr val="2A2A2A"/>
                </a:solidFill>
                <a:latin typeface="PingFang SC"/>
              </a:defRPr>
            </a:pPr>
            <a:r>
              <a:t>🧠 长期记忆 (MEMORY.md)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 curated 精华记忆，仅主会话加载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安全隔离：群聊不访问个人隐私</a:t>
            </a:r>
          </a:p>
          <a:p>
            <a:br/>
            <a:pPr>
              <a:spcAft>
                <a:spcPts val="800"/>
              </a:spcAft>
              <a:defRPr sz="2200" b="1">
                <a:solidFill>
                  <a:srgbClr val="2A2A2A"/>
                </a:solidFill>
                <a:latin typeface="PingFang SC"/>
              </a:defRPr>
            </a:pPr>
            <a:r>
              <a:t>📋 配置文件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SOUL.md：AI 人格与行为准则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USER.md：用户偏好与背景信息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IDENTITY.md：AI 自我认知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子代理系统 - 并行任务处理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828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5669280"/>
          </a:xfrm>
          <a:prstGeom prst="rect">
            <a:avLst/>
          </a:prstGeom>
          <a:solidFill>
            <a:srgbClr val="F8F9FA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🚀 支持spawn独立子代理处理复杂任务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📊 子代理可运行不同模型、不同配置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🔄 主代理可 steer/kill/监控子代理状态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💡 适用场景：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GitHub issue 批量处理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多文件代码重构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长时间后台任务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0"/>
            <a:ext cx="182880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PingFang SC"/>
              </a:defRPr>
            </a:pPr>
            <a:r>
              <a:t>安全设计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C107"/>
                </a:solidFill>
                <a:latin typeface="PingFang SC"/>
              </a:defRPr>
            </a:pPr>
            <a:r>
              <a:t>隐私优先 · 权限可控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安全边界与最佳实践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828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  <a:latin typeface="PingFang SC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5669280"/>
          </a:xfrm>
          <a:prstGeom prst="rect">
            <a:avLst/>
          </a:prstGeom>
          <a:solidFill>
            <a:srgbClr val="F8F9FA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A2A2A"/>
                </a:solidFill>
                <a:latin typeface="PingFang SC"/>
              </a:defRPr>
            </a:pPr>
            <a:r>
              <a:t>🔒 数据安全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本地部署，数据不出境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MEMORY.md 主会话隔离，群聊不泄露隐私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敏感操作需用户确认（删除、外部发送）</a:t>
            </a:r>
          </a:p>
          <a:p>
            <a:br/>
            <a:pPr>
              <a:spcAft>
                <a:spcPts val="800"/>
              </a:spcAft>
              <a:defRPr sz="2400" b="1">
                <a:solidFill>
                  <a:srgbClr val="2A2A2A"/>
                </a:solidFill>
                <a:latin typeface="PingFang SC"/>
              </a:defRPr>
            </a:pPr>
            <a:r>
              <a:t>⚠️ 红线规则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禁止主动外发隐私数据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禁止执行破坏性命令无确认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群聊中不代表用户发声</a:t>
            </a:r>
          </a:p>
          <a:p>
            <a:br/>
            <a:pPr>
              <a:spcAft>
                <a:spcPts val="800"/>
              </a:spcAft>
              <a:defRPr sz="2400" b="1">
                <a:solidFill>
                  <a:srgbClr val="2A2A2A"/>
                </a:solidFill>
                <a:latin typeface="PingFang SC"/>
              </a:defRPr>
            </a:pPr>
            <a:r>
              <a:t>✅ 推荐实践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使用 trash 而非 rm（可恢复）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• 不确定时先询问用户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快速开始指南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828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  <a:latin typeface="PingFang SC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5669280"/>
          </a:xfrm>
          <a:prstGeom prst="rect">
            <a:avLst/>
          </a:prstGeom>
          <a:solidFill>
            <a:srgbClr val="F8F9FA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A2A2A"/>
                </a:solidFill>
                <a:latin typeface="PingFang SC"/>
              </a:defRPr>
            </a:pPr>
            <a:r>
              <a:t>1️⃣ 安装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npm install -g openclaw</a:t>
            </a:r>
          </a:p>
          <a:p>
            <a:br/>
            <a:pPr>
              <a:spcAft>
                <a:spcPts val="800"/>
              </a:spcAft>
              <a:defRPr sz="2400" b="1">
                <a:solidFill>
                  <a:srgbClr val="2A2A2A"/>
                </a:solidFill>
                <a:latin typeface="PingFang SC"/>
              </a:defRPr>
            </a:pPr>
            <a:r>
              <a:t>2️⃣ 配置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openclaw config  # 设置模型、Surface 等</a:t>
            </a:r>
          </a:p>
          <a:p>
            <a:br/>
            <a:pPr>
              <a:spcAft>
                <a:spcPts val="800"/>
              </a:spcAft>
              <a:defRPr sz="2400" b="1">
                <a:solidFill>
                  <a:srgbClr val="2A2A2A"/>
                </a:solidFill>
                <a:latin typeface="PingFang SC"/>
              </a:defRPr>
            </a:pPr>
            <a:r>
              <a:t>3️⃣ 启动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openclaw gateway start</a:t>
            </a:r>
          </a:p>
          <a:p>
            <a:br/>
            <a:pPr>
              <a:spcAft>
                <a:spcPts val="800"/>
              </a:spcAft>
              <a:defRPr sz="2400" b="1">
                <a:solidFill>
                  <a:srgbClr val="2A2A2A"/>
                </a:solidFill>
                <a:latin typeface="PingFang SC"/>
              </a:defRPr>
            </a:pPr>
            <a:r>
              <a:t>4️⃣ 连接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Web 界面 / Telegram / Discord / 移动端 App</a:t>
            </a:r>
          </a:p>
          <a:p>
            <a:br/>
            <a:pPr>
              <a:spcAft>
                <a:spcPts val="800"/>
              </a:spcAft>
              <a:defRPr sz="2400" b="1">
                <a:solidFill>
                  <a:srgbClr val="2A2A2A"/>
                </a:solidFill>
                <a:latin typeface="PingFang SC"/>
              </a:defRPr>
            </a:pPr>
            <a:r>
              <a:t>📚 文档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本地：/usr/local/lib/node_modules/openclaw/docs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  在线：https://docs.openclaw.ai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t>典型使用场景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828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  <a:latin typeface="PingFang SC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5669280"/>
          </a:xfrm>
          <a:prstGeom prst="rect">
            <a:avLst/>
          </a:prstGeom>
          <a:solidFill>
            <a:srgbClr val="F8F9FA"/>
          </a:solidFill>
          <a:ln w="127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📧 智能邮件管理 - 自动分类、摘要、提醒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📅 日程助手 - 心跳检查即将到来的会议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💻 开发辅助 - GitHub issue 处理、代码审查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🏠 智能家居 - 通过节点控制摄像头、通知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📰 信息聚合 - 定时抓取新闻、天气、股票</a:t>
            </a:r>
          </a:p>
          <a:p>
            <a:pPr>
              <a:spcAft>
                <a:spcPts val="1200"/>
              </a:spcAft>
              <a:defRPr sz="2000">
                <a:solidFill>
                  <a:srgbClr val="2A2A2A"/>
                </a:solidFill>
                <a:latin typeface="PingFang SC"/>
              </a:defRPr>
            </a:pPr>
            <a:r>
              <a:t>• 📝 知识管理 - 自动整理笔记、更新记忆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PingFang SC"/>
              </a:defRPr>
            </a:pPr>
            <a:r>
              <a:t>开始构建你的 AI 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PingFang SC"/>
              </a:defRPr>
            </a:pPr>
            <a:r>
              <a:t>https://github.com/openclaw/openclaw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